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411480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00" b="1">
                <a:solidFill>
                  <a:srgbClr val="CCFBF1"/>
                </a:solidFill>
                <a:latin typeface="Aptos"/>
              </a:rPr>
              <a:t>UD2 · BLOQUE DE CONTIDOS BC3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6766560" cy="1371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Control de
procesos automáticos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697480"/>
            <a:ext cx="6858000" cy="3657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500" b="0">
                <a:solidFill>
                  <a:srgbClr val="C7D7EA"/>
                </a:solidFill>
                <a:latin typeface="Aptos"/>
              </a:rPr>
              <a:t>Control estatístico do proceso: datos, decisións e mellora continua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4023360" cy="1024128"/>
          </a:xfrm>
          <a:prstGeom prst="roundRect">
            <a:avLst/>
          </a:prstGeom>
          <a:solidFill>
            <a:srgbClr val="12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995928"/>
            <a:ext cx="3566160" cy="6583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C3.1  Interpretación de gráficos
C3.2  Variables e atributos
C3.3  Capacidade: Cp e Cpk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216152"/>
            <a:ext cx="658368" cy="6583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325880"/>
            <a:ext cx="658368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00032" y="1371600"/>
            <a:ext cx="201168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MEDIR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33104" y="1874519"/>
            <a:ext cx="0" cy="457201"/>
          </a:xfrm>
          <a:prstGeom prst="line">
            <a:avLst/>
          </a:prstGeom>
          <a:ln w="25400">
            <a:solidFill>
              <a:srgbClr val="789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03920" y="2423160"/>
            <a:ext cx="658368" cy="6583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532888"/>
            <a:ext cx="658368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2578608"/>
            <a:ext cx="201168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ANALIZAR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33104" y="3081528"/>
            <a:ext cx="0" cy="457200"/>
          </a:xfrm>
          <a:prstGeom prst="line">
            <a:avLst/>
          </a:prstGeom>
          <a:ln w="25400">
            <a:solidFill>
              <a:srgbClr val="789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03920" y="3630168"/>
            <a:ext cx="658368" cy="6583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3739896"/>
            <a:ext cx="658368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0032" y="3785616"/>
            <a:ext cx="201168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ACTUAR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989320"/>
            <a:ext cx="859536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00" b="0">
                <a:solidFill>
                  <a:srgbClr val="CCFBF1"/>
                </a:solidFill>
                <a:latin typeface="Aptos"/>
              </a:rPr>
              <a:t>C3.4 · Criterios de interpretación   |   C3.5 · Solucións técnicas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0408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50" b="1">
                <a:solidFill>
                  <a:srgbClr val="14B8A6"/>
                </a:solidFill>
                <a:latin typeface="Aptos"/>
              </a:rPr>
              <a:t>MAPA DA 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28600"/>
            <a:ext cx="50292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37960"/>
            <a:ext cx="11183112" cy="0"/>
          </a:xfrm>
          <a:prstGeom prst="line">
            <a:avLst/>
          </a:prstGeom>
          <a:ln w="1016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UD2 · Control de procesos automáticos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"/>
              </a:rPr>
              <a:t>Un proceso que aprende cos seus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104241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Obxectivo: distinguir a variación normal dunha sinal que require intervención.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03120"/>
            <a:ext cx="1901952" cy="20574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438912" cy="43891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32304"/>
            <a:ext cx="438912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900" b="1">
                <a:solidFill>
                  <a:srgbClr val="0B1F3A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99232"/>
            <a:ext cx="1517904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tos"/>
              </a:rPr>
              <a:t>Comprender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01568"/>
            <a:ext cx="1463040" cy="56692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Variación, mostra e distribución.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96312" y="3127248"/>
            <a:ext cx="274320" cy="0"/>
          </a:xfrm>
          <a:prstGeom prst="line">
            <a:avLst/>
          </a:prstGeom>
          <a:ln w="254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62072" y="2103120"/>
            <a:ext cx="1901952" cy="20574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44952" y="2331720"/>
            <a:ext cx="438912" cy="43891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432304"/>
            <a:ext cx="438912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900" b="1">
                <a:solidFill>
                  <a:srgbClr val="0B1F3A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999232"/>
            <a:ext cx="1517904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tos"/>
              </a:rPr>
              <a:t>Controlar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401568"/>
            <a:ext cx="1463040" cy="56692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Gráficos por variables e atributos.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64024" y="3127248"/>
            <a:ext cx="274320" cy="0"/>
          </a:xfrm>
          <a:prstGeom prst="line">
            <a:avLst/>
          </a:prstGeom>
          <a:ln w="254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29784" y="2103120"/>
            <a:ext cx="1901952" cy="20574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12664" y="2331720"/>
            <a:ext cx="438912" cy="43891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12664" y="2432304"/>
            <a:ext cx="438912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900" b="1">
                <a:solidFill>
                  <a:srgbClr val="0B1F3A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2" y="2999232"/>
            <a:ext cx="1517904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tos"/>
              </a:rPr>
              <a:t>Interpretar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0952" y="3401568"/>
            <a:ext cx="1463040" cy="56692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Alarmas, rachas e tendencias.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31736" y="3127248"/>
            <a:ext cx="274320" cy="0"/>
          </a:xfrm>
          <a:prstGeom prst="line">
            <a:avLst/>
          </a:prstGeom>
          <a:ln w="254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97496" y="2103120"/>
            <a:ext cx="1901952" cy="20574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80375" y="2331720"/>
            <a:ext cx="438912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0375" y="2432304"/>
            <a:ext cx="438912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900" b="1">
                <a:solidFill>
                  <a:srgbClr val="0B1F3A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664" y="2999232"/>
            <a:ext cx="1517904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tos"/>
              </a:rPr>
              <a:t>Capacitar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8664" y="3401568"/>
            <a:ext cx="1463040" cy="56692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Cp e Cpk fronte ás especificacións.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9448" y="3127248"/>
            <a:ext cx="274319" cy="0"/>
          </a:xfrm>
          <a:prstGeom prst="line">
            <a:avLst/>
          </a:prstGeom>
          <a:ln w="254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65208" y="2103120"/>
            <a:ext cx="1901952" cy="20574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848088" y="2331720"/>
            <a:ext cx="438912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48088" y="2432304"/>
            <a:ext cx="438912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900" b="1">
                <a:solidFill>
                  <a:srgbClr val="0B1F3A"/>
                </a:solidFill>
                <a:latin typeface="Apto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66376" y="2999232"/>
            <a:ext cx="1517904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tos"/>
              </a:rPr>
              <a:t>Mellorar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66376" y="3401568"/>
            <a:ext cx="1463040" cy="56692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Diagnóstico, acción e verificación.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919472"/>
            <a:ext cx="82296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Aptos"/>
              </a:rPr>
              <a:t>Idea clave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230368"/>
            <a:ext cx="1051560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Aptos"/>
              </a:rPr>
              <a:t>Non se trata de axustar cada punto: trátase de actuar só cando os datos sinalan unha causa especial.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0408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50" b="1">
                <a:solidFill>
                  <a:srgbClr val="14B8A6"/>
                </a:solidFill>
                <a:latin typeface="Aptos"/>
              </a:rP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28600"/>
            <a:ext cx="50292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37960"/>
            <a:ext cx="11183112" cy="0"/>
          </a:xfrm>
          <a:prstGeom prst="line">
            <a:avLst/>
          </a:prstGeom>
          <a:ln w="1016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UD2 · Control de procesos automáticos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"/>
              </a:rPr>
              <a:t>Toda produción varía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104241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 estatística permite separar a variación inherente do proceso das causas identificables.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3474720" cy="21488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73152" cy="21488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76272"/>
            <a:ext cx="41148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800" b="1">
                <a:solidFill>
                  <a:srgbClr val="14B8A6"/>
                </a:solidFill>
                <a:latin typeface="Aptos"/>
              </a:rPr>
              <a:t>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130552"/>
            <a:ext cx="256032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Causas comúns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532888"/>
            <a:ext cx="2560320" cy="1463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Pequenas fontes de variación presentes sempre: temperatura, material, pequenas diferenzas de máquina ou método.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965960"/>
            <a:ext cx="3474720" cy="21488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1965960"/>
            <a:ext cx="73152" cy="21488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176272"/>
            <a:ext cx="41148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800" b="1">
                <a:solidFill>
                  <a:srgbClr val="F97316"/>
                </a:solidFill>
                <a:latin typeface="Aptos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130552"/>
            <a:ext cx="256032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Causas especiais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532888"/>
            <a:ext cx="2560320" cy="1463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Teñen unha orixe concreta: ferramenta rota, lote distinto, axuste incorrecto ou erro de medición.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965960"/>
            <a:ext cx="3474720" cy="21488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1965960"/>
            <a:ext cx="73152" cy="2148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176272"/>
            <a:ext cx="41148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2130552"/>
            <a:ext cx="256032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Decisión correcta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2532888"/>
            <a:ext cx="2560320" cy="1463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Non sobreaxustar ante variación común. Investigar e eliminar unha causa especial.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645152"/>
            <a:ext cx="3749039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As 6M son unha guía útil para investigar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029200"/>
            <a:ext cx="1691640" cy="38404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120640"/>
            <a:ext cx="1691640" cy="1554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50" b="1">
                <a:solidFill>
                  <a:srgbClr val="0B1F3A"/>
                </a:solidFill>
                <a:latin typeface="Aptos"/>
              </a:rPr>
              <a:t>Máquina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42615" y="5029200"/>
            <a:ext cx="1691640" cy="38404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42615" y="5120640"/>
            <a:ext cx="1691640" cy="1554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50" b="1">
                <a:solidFill>
                  <a:srgbClr val="0B1F3A"/>
                </a:solidFill>
                <a:latin typeface="Aptos"/>
              </a:rPr>
              <a:t>Método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26864" y="5029200"/>
            <a:ext cx="1691640" cy="38404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5120640"/>
            <a:ext cx="1691640" cy="1554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50" b="1">
                <a:solidFill>
                  <a:srgbClr val="0B1F3A"/>
                </a:solidFill>
                <a:latin typeface="Aptos"/>
              </a:rPr>
              <a:t>Material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96128"/>
            <a:ext cx="1691640" cy="38404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687568"/>
            <a:ext cx="1691640" cy="1554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50" b="1">
                <a:solidFill>
                  <a:srgbClr val="0B1F3A"/>
                </a:solidFill>
                <a:latin typeface="Aptos"/>
              </a:rPr>
              <a:t>Man de obra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42615" y="5596128"/>
            <a:ext cx="1691640" cy="38404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42615" y="5687568"/>
            <a:ext cx="1691640" cy="1554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50" b="1">
                <a:solidFill>
                  <a:srgbClr val="0B1F3A"/>
                </a:solidFill>
                <a:latin typeface="Aptos"/>
              </a:rPr>
              <a:t>Medición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26864" y="5596128"/>
            <a:ext cx="1691640" cy="38404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5687568"/>
            <a:ext cx="1691640" cy="1554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50" b="1">
                <a:solidFill>
                  <a:srgbClr val="0B1F3A"/>
                </a:solidFill>
                <a:latin typeface="Aptos"/>
              </a:rPr>
              <a:t>Medio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937760"/>
            <a:ext cx="4434840" cy="6858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Aptos"/>
              </a:rPr>
              <a:t>Proceso baixo control = estable e previsible; non significa necesariamente que cumpra a tolerancia.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0408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50" b="1">
                <a:solidFill>
                  <a:srgbClr val="14B8A6"/>
                </a:solidFill>
                <a:latin typeface="Aptos"/>
              </a:rPr>
              <a:t>C3.2 · TIPOS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28600"/>
            <a:ext cx="50292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37960"/>
            <a:ext cx="11183112" cy="0"/>
          </a:xfrm>
          <a:prstGeom prst="line">
            <a:avLst/>
          </a:prstGeom>
          <a:ln w="1016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UD2 · Control de procesos automáticos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"/>
              </a:rPr>
              <a:t>Que medimos? Variables e atributos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104241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 natureza do dato determina o gráfico de control adecuado.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5212080" cy="32004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73152" cy="3200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1"/>
            <a:ext cx="41148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2039112"/>
            <a:ext cx="429768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VARIABLE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2441448"/>
            <a:ext cx="4297680" cy="2514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Aptos"/>
              </a:rPr>
              <a:t>Dato cuantitativo e medible.
Exemplos: diámetro, peso, temperatura, concentración.
Permite calcular media, percorrido e desviación típica.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74519"/>
            <a:ext cx="5212080" cy="32004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874519"/>
            <a:ext cx="73152" cy="3200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84831"/>
            <a:ext cx="41148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2039112"/>
            <a:ext cx="429768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ATRIBUTO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2441448"/>
            <a:ext cx="4297680" cy="2514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Aptos"/>
              </a:rPr>
              <a:t>Dato de reconto ou clasificación.
Exemplos: peza defectuosa / conforme; número de raiaduras.
Atención: unha peza pode ter varios defectos.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59552"/>
            <a:ext cx="192024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Aptos"/>
              </a:rPr>
              <a:t>Mostra representativa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532120"/>
            <a:ext cx="804672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50" b="0">
                <a:solidFill>
                  <a:srgbClr val="172033"/>
                </a:solidFill>
                <a:latin typeface="Aptos"/>
              </a:rPr>
              <a:t>Pezas consecutivas, criterio de toma definido e instrumento calibrado.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0408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50" b="1">
                <a:solidFill>
                  <a:srgbClr val="14B8A6"/>
                </a:solidFill>
                <a:latin typeface="Aptos"/>
              </a:rPr>
              <a:t>C3.1 · LECTURA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28600"/>
            <a:ext cx="50292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37960"/>
            <a:ext cx="11183112" cy="0"/>
          </a:xfrm>
          <a:prstGeom prst="line">
            <a:avLst/>
          </a:prstGeom>
          <a:ln w="1016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UD2 · Control de procesos automáticos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"/>
              </a:rPr>
              <a:t>O histograma revela forma, centrado e dispersión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104241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Antes de controlar, visualizamos como se distribúen os datos dunha característica crítica.</a:t>
            </a:r>
          </a:p>
        </p:txBody>
      </p:sp>
      <p:pic>
        <p:nvPicPr>
          <p:cNvPr id="9" name="Picture 8" descr="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6492240" cy="271972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06640" y="1901952"/>
            <a:ext cx="3977639" cy="987552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1901952"/>
            <a:ext cx="73152" cy="98755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7" y="2066544"/>
            <a:ext cx="3520439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Centrado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3527" y="2468880"/>
            <a:ext cx="3520439" cy="30175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A media está próxima ao valor nominal?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127248"/>
            <a:ext cx="3977639" cy="987552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06640" y="3127248"/>
            <a:ext cx="73152" cy="9875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3527" y="3291840"/>
            <a:ext cx="3520439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Dispersión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3527" y="3694176"/>
            <a:ext cx="3520439" cy="30175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A maioría dos datos cabe entre LIE e LSE?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4352544"/>
            <a:ext cx="3977639" cy="987552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4352544"/>
            <a:ext cx="73152" cy="9875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7" y="4517136"/>
            <a:ext cx="3520439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Forma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7" y="4919472"/>
            <a:ext cx="3520439" cy="30175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Asimetría ou dous picos poden revelar fontes mesturadas.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42432"/>
            <a:ext cx="1069848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LIE / LSE = especificacións do deseño ou do cliente; non son límites de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0408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50" b="1">
                <a:solidFill>
                  <a:srgbClr val="14B8A6"/>
                </a:solidFill>
                <a:latin typeface="Aptos"/>
              </a:rPr>
              <a:t>FUNDAMENTOS ESTATÍSTICOS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28600"/>
            <a:ext cx="50292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37960"/>
            <a:ext cx="11183112" cy="0"/>
          </a:xfrm>
          <a:prstGeom prst="line">
            <a:avLst/>
          </a:prstGeom>
          <a:ln w="1016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UD2 · Control de procesos automáticos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"/>
              </a:rPr>
              <a:t>A campá de Gauss e os estatísticos básicos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104241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Nun proceso estable, a variación adoita aproximarse a unha distribución normal.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5212080" cy="32918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1051560" y="4663440"/>
            <a:ext cx="365760" cy="137160"/>
          </a:xfrm>
          <a:prstGeom prst="line">
            <a:avLst/>
          </a:prstGeom>
          <a:ln w="304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20" y="4160520"/>
            <a:ext cx="365760" cy="502920"/>
          </a:xfrm>
          <a:prstGeom prst="line">
            <a:avLst/>
          </a:prstGeom>
          <a:ln w="304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783080" y="3383280"/>
            <a:ext cx="365760" cy="777240"/>
          </a:xfrm>
          <a:prstGeom prst="line">
            <a:avLst/>
          </a:prstGeom>
          <a:ln w="304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148840" y="2606040"/>
            <a:ext cx="365760" cy="777240"/>
          </a:xfrm>
          <a:prstGeom prst="line">
            <a:avLst/>
          </a:prstGeom>
          <a:ln w="304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514600" y="2240280"/>
            <a:ext cx="365760" cy="365760"/>
          </a:xfrm>
          <a:prstGeom prst="line">
            <a:avLst/>
          </a:prstGeom>
          <a:ln w="304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880360" y="2103120"/>
            <a:ext cx="365760" cy="137160"/>
          </a:xfrm>
          <a:prstGeom prst="line">
            <a:avLst/>
          </a:prstGeom>
          <a:ln w="304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46120" y="2103120"/>
            <a:ext cx="365760" cy="137160"/>
          </a:xfrm>
          <a:prstGeom prst="line">
            <a:avLst/>
          </a:prstGeom>
          <a:ln w="304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11880" y="2240280"/>
            <a:ext cx="365759" cy="365760"/>
          </a:xfrm>
          <a:prstGeom prst="line">
            <a:avLst/>
          </a:prstGeom>
          <a:ln w="304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977639" y="2606040"/>
            <a:ext cx="365761" cy="777240"/>
          </a:xfrm>
          <a:prstGeom prst="line">
            <a:avLst/>
          </a:prstGeom>
          <a:ln w="304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343400" y="3383280"/>
            <a:ext cx="365760" cy="777240"/>
          </a:xfrm>
          <a:prstGeom prst="line">
            <a:avLst/>
          </a:prstGeom>
          <a:ln w="304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709160" y="4160520"/>
            <a:ext cx="365760" cy="502920"/>
          </a:xfrm>
          <a:prstGeom prst="line">
            <a:avLst/>
          </a:prstGeom>
          <a:ln w="304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74920" y="4663440"/>
            <a:ext cx="365760" cy="137160"/>
          </a:xfrm>
          <a:prstGeom prst="line">
            <a:avLst/>
          </a:prstGeom>
          <a:ln w="304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17320" y="4782312"/>
            <a:ext cx="0" cy="13716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34440" y="4946904"/>
            <a:ext cx="384048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ptos"/>
              </a:rPr>
              <a:t>−3σ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57400" y="4782312"/>
            <a:ext cx="0" cy="13716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874519" y="4946904"/>
            <a:ext cx="384048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ptos"/>
              </a:rPr>
              <a:t>−2σ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06040" y="4782312"/>
            <a:ext cx="0" cy="13716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423160" y="4946904"/>
            <a:ext cx="384048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ptos"/>
              </a:rPr>
              <a:t>−1σ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246120" y="4782312"/>
            <a:ext cx="0" cy="13716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63239" y="4946904"/>
            <a:ext cx="384048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ptos"/>
              </a:rPr>
              <a:t>μ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886200" y="4782312"/>
            <a:ext cx="0" cy="13716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703320" y="4946904"/>
            <a:ext cx="384048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ptos"/>
              </a:rPr>
              <a:t>+1σ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434840" y="4782312"/>
            <a:ext cx="0" cy="13716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251959" y="4946904"/>
            <a:ext cx="384048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ptos"/>
              </a:rPr>
              <a:t>+2σ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74920" y="4782312"/>
            <a:ext cx="0" cy="13716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892040" y="4946904"/>
            <a:ext cx="384048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ptos"/>
              </a:rPr>
              <a:t>+3σ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87752" y="4434840"/>
            <a:ext cx="13716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200" b="1">
                <a:solidFill>
                  <a:srgbClr val="14B8A6"/>
                </a:solidFill>
                <a:latin typeface="Aptos"/>
              </a:rPr>
              <a:t>68 %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230368"/>
            <a:ext cx="246888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ptos"/>
              </a:rPr>
              <a:t>95 %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614416"/>
            <a:ext cx="3749039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Aptos"/>
              </a:rPr>
              <a:t>99,7 % dentro de μ ± 3σ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1938528"/>
            <a:ext cx="4800600" cy="84124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0" y="1938528"/>
            <a:ext cx="73152" cy="84124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47688" y="2103120"/>
            <a:ext cx="434340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Media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47688" y="2505456"/>
            <a:ext cx="4343400" cy="1554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X̄ = ΣXi / n · centro da mostra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2999232"/>
            <a:ext cx="4800600" cy="84124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00800" y="2999232"/>
            <a:ext cx="73152" cy="8412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47688" y="3163824"/>
            <a:ext cx="434340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Percorrido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47688" y="3566160"/>
            <a:ext cx="4343400" cy="1554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R = Xmax − Xmin · amplitude observada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4059936"/>
            <a:ext cx="4800600" cy="84124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00800" y="4059936"/>
            <a:ext cx="73152" cy="8412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47688" y="4224528"/>
            <a:ext cx="434340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Desviación típica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47688" y="4626864"/>
            <a:ext cx="4343400" cy="1554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σ · medida da dispersión arredor da media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5532120"/>
            <a:ext cx="457200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Aptos"/>
              </a:rPr>
              <a:t>Ancho natural do proceso = 6σ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0408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50" b="1">
                <a:solidFill>
                  <a:srgbClr val="14B8A6"/>
                </a:solidFill>
                <a:latin typeface="Aptos"/>
              </a:rPr>
              <a:t>C3.1 · GRÁFICOS DE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28600"/>
            <a:ext cx="50292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37960"/>
            <a:ext cx="11183112" cy="0"/>
          </a:xfrm>
          <a:prstGeom prst="line">
            <a:avLst/>
          </a:prstGeom>
          <a:ln w="1016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UD2 · Control de procesos automáticos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"/>
              </a:rPr>
              <a:t>Un gráfico de control engade a dimensión tempo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104241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Cada punto representa un subgrupo tomado baixo condicións comparables.</a:t>
            </a:r>
          </a:p>
        </p:txBody>
      </p:sp>
      <p:pic>
        <p:nvPicPr>
          <p:cNvPr id="9" name="Picture 8" descr="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7452360" cy="283001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21040" y="1901952"/>
            <a:ext cx="3017520" cy="93268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21040" y="1901952"/>
            <a:ext cx="73152" cy="93268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2066544"/>
            <a:ext cx="256032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Liña 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7928" y="2468880"/>
            <a:ext cx="2560320" cy="24688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Nivel habitual do proceso.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063240"/>
            <a:ext cx="3017520" cy="93268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3063240"/>
            <a:ext cx="73152" cy="93268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3227832"/>
            <a:ext cx="256032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LSC / 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3630168"/>
            <a:ext cx="2560320" cy="24688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Variación natural esperada.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4224528"/>
            <a:ext cx="3017520" cy="93268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4224528"/>
            <a:ext cx="73152" cy="93268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8" y="4389120"/>
            <a:ext cx="256032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Sinal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4791456"/>
            <a:ext cx="2560320" cy="24688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Patrón improbable se todo é normal.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87568"/>
            <a:ext cx="996696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Primeiro interprétase a variabilidade (R); despois o nivel medio (X̄).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0408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50" b="1">
                <a:solidFill>
                  <a:srgbClr val="14B8A6"/>
                </a:solidFill>
                <a:latin typeface="Aptos"/>
              </a:rPr>
              <a:t>C3.1 · C3.4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28600"/>
            <a:ext cx="50292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37960"/>
            <a:ext cx="11183112" cy="0"/>
          </a:xfrm>
          <a:prstGeom prst="line">
            <a:avLst/>
          </a:prstGeom>
          <a:ln w="1016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UD2 · Control de procesos automáticos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"/>
              </a:rPr>
              <a:t>Límites de control ≠ límites de especificación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104241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Confundir ambos conceptos leva a decisións incorrectas.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212080" cy="324612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73152" cy="32461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993392"/>
            <a:ext cx="475488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LÍMITES DE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95728"/>
            <a:ext cx="4754880" cy="2560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Aptos"/>
              </a:rPr>
              <a:t>• Calcúlanse cos datos do proceso.
• Indican se o proceso é estable.
• Habitualmente: media ± 3σ.
• Detectan causas especiais.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5212080" cy="324612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73152" cy="32461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993392"/>
            <a:ext cx="475488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LÍMITES DE ESPECIFICACIÓN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395728"/>
            <a:ext cx="4754880" cy="2560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Aptos"/>
              </a:rPr>
              <a:t>• Veñen do deseño ou do cliente.
• Indican se a peza é conforme.
• Definen LIE e LSE.
• Avalían a capacidade.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32120"/>
            <a:ext cx="10881360" cy="47548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650992"/>
            <a:ext cx="1046988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350" b="1">
                <a:solidFill>
                  <a:srgbClr val="0B1F3A"/>
                </a:solidFill>
                <a:latin typeface="Aptos"/>
              </a:rPr>
              <a:t>Un proceso pode estar baixo control e, aínda así, producir pezas fóra de tolerancia.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0408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50" b="1">
                <a:solidFill>
                  <a:srgbClr val="14B8A6"/>
                </a:solidFill>
                <a:latin typeface="Aptos"/>
              </a:rPr>
              <a:t>C3.2 · TIPOS DE GRÁFICOS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28600"/>
            <a:ext cx="50292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37960"/>
            <a:ext cx="11183112" cy="0"/>
          </a:xfrm>
          <a:prstGeom prst="line">
            <a:avLst/>
          </a:prstGeom>
          <a:ln w="1016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UD2 · Control de procesos automáticos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"/>
              </a:rPr>
              <a:t>Escollemos o gráfico segundo o dato e a mostra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104241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 ferramenta correcta permite detectar o cambio antes de xerar refugallo.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10789920" cy="56692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810512"/>
            <a:ext cx="1170432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29384"/>
            <a:ext cx="1170432" cy="1554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X̄ – 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911095"/>
            <a:ext cx="237744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1">
                <a:solidFill>
                  <a:srgbClr val="0B1F3A"/>
                </a:solidFill>
                <a:latin typeface="Aptos"/>
              </a:rPr>
              <a:t>Variables · n=2–10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911095"/>
            <a:ext cx="53035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Media e percorrido de subgrupos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505456"/>
            <a:ext cx="10789920" cy="56692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" y="2560320"/>
            <a:ext cx="1170432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679191"/>
            <a:ext cx="1170432" cy="1554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X̄ –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660903"/>
            <a:ext cx="237744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1">
                <a:solidFill>
                  <a:srgbClr val="0B1F3A"/>
                </a:solidFill>
                <a:latin typeface="Aptos"/>
              </a:rPr>
              <a:t>Variables · n&gt;10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660903"/>
            <a:ext cx="53035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Media e desviación típica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55263"/>
            <a:ext cx="10789920" cy="56692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" y="3310127"/>
            <a:ext cx="1170432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428999"/>
            <a:ext cx="1170432" cy="1554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 – MR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410711"/>
            <a:ext cx="237744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1">
                <a:solidFill>
                  <a:srgbClr val="0B1F3A"/>
                </a:solidFill>
                <a:latin typeface="Aptos"/>
              </a:rPr>
              <a:t>Variables · 1 dato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410711"/>
            <a:ext cx="53035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Valor individual e percorrido móbil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005072"/>
            <a:ext cx="10789920" cy="56692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3232" y="4059935"/>
            <a:ext cx="1170432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178808"/>
            <a:ext cx="1170432" cy="1554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 / np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160520"/>
            <a:ext cx="237744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1">
                <a:solidFill>
                  <a:srgbClr val="0B1F3A"/>
                </a:solidFill>
                <a:latin typeface="Aptos"/>
              </a:rPr>
              <a:t>Atributos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160520"/>
            <a:ext cx="53035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Fracción ou nº de unidades defectuosas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754879"/>
            <a:ext cx="10789920" cy="56692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3232" y="4809743"/>
            <a:ext cx="1170432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4928616"/>
            <a:ext cx="1170432" cy="1554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 / 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4910327"/>
            <a:ext cx="237744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1">
                <a:solidFill>
                  <a:srgbClr val="0B1F3A"/>
                </a:solidFill>
                <a:latin typeface="Aptos"/>
              </a:rPr>
              <a:t>Atributos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910327"/>
            <a:ext cx="53035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Número de defectos por unidade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815584"/>
            <a:ext cx="1042416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50" b="1">
                <a:solidFill>
                  <a:srgbClr val="0B1F3A"/>
                </a:solidFill>
                <a:latin typeface="Aptos"/>
              </a:rPr>
              <a:t>Defectuosa = unidade que non cumpre · Defecto = non conformidade concreta.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0408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50" b="1">
                <a:solidFill>
                  <a:srgbClr val="14B8A6"/>
                </a:solidFill>
                <a:latin typeface="Aptos"/>
              </a:rPr>
              <a:t>C3.2 ·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28600"/>
            <a:ext cx="50292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37960"/>
            <a:ext cx="11183112" cy="0"/>
          </a:xfrm>
          <a:prstGeom prst="line">
            <a:avLst/>
          </a:prstGeom>
          <a:ln w="1016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UD2 · Control de procesos automáticos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"/>
              </a:rPr>
              <a:t>Técnica operativa do gráfico X̄–R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104241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Exemplo habitual cando se toman subgrupos de 4 ou 5 pezas.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47088"/>
            <a:ext cx="3310128" cy="118872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2093976"/>
            <a:ext cx="475488" cy="47548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212848"/>
            <a:ext cx="475488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057400"/>
            <a:ext cx="210312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Definir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423160"/>
            <a:ext cx="2194560" cy="3840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30" b="0">
                <a:solidFill>
                  <a:srgbClr val="172033"/>
                </a:solidFill>
                <a:latin typeface="Aptos"/>
              </a:rPr>
              <a:t>Característica, tamaño n e frecuencia.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47088"/>
            <a:ext cx="3310128" cy="118872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90288" y="2093976"/>
            <a:ext cx="475488" cy="47548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212848"/>
            <a:ext cx="475488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057400"/>
            <a:ext cx="210312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Tomar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423160"/>
            <a:ext cx="2194560" cy="3840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30" b="0">
                <a:solidFill>
                  <a:srgbClr val="172033"/>
                </a:solidFill>
                <a:latin typeface="Aptos"/>
              </a:rPr>
              <a:t>k subgrupos racionais e consecutivos.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847088"/>
            <a:ext cx="3310128" cy="118872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0" y="2093976"/>
            <a:ext cx="475488" cy="47548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212848"/>
            <a:ext cx="475488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2057400"/>
            <a:ext cx="210312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Calcular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2423160"/>
            <a:ext cx="2194560" cy="3840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30" b="0">
                <a:solidFill>
                  <a:srgbClr val="172033"/>
                </a:solidFill>
                <a:latin typeface="Aptos"/>
              </a:rPr>
              <a:t>X̄i e Ri; despois X̿ e R̄.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419856"/>
            <a:ext cx="3310128" cy="118872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6" y="3666744"/>
            <a:ext cx="475488" cy="47548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3785616"/>
            <a:ext cx="475488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3630168"/>
            <a:ext cx="210312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Representar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3995928"/>
            <a:ext cx="2194560" cy="3840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30" b="0">
                <a:solidFill>
                  <a:srgbClr val="172033"/>
                </a:solidFill>
                <a:latin typeface="Aptos"/>
              </a:rPr>
              <a:t>LC, LSC e LIC para X̄ e 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419856"/>
            <a:ext cx="3310128" cy="118872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90288" y="3666744"/>
            <a:ext cx="475488" cy="47548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0288" y="3785616"/>
            <a:ext cx="475488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3630168"/>
            <a:ext cx="210312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Interpretar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3995928"/>
            <a:ext cx="2194560" cy="3840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30" b="0">
                <a:solidFill>
                  <a:srgbClr val="172033"/>
                </a:solidFill>
                <a:latin typeface="Aptos"/>
              </a:rPr>
              <a:t>Primeiro R; despois X̄.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230368"/>
            <a:ext cx="516636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X̄: LSC = X̿ + A2·R̄  |  LIC = X̿ − A2·R̄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230368"/>
            <a:ext cx="420624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Aptos"/>
              </a:rPr>
              <a:t>R: LSC = D4·R̄  |  LIC = D3·R̄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0408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50" b="1">
                <a:solidFill>
                  <a:srgbClr val="14B8A6"/>
                </a:solidFill>
                <a:latin typeface="Aptos"/>
              </a:rPr>
              <a:t>C3.4 · CRITERIOS DE INTERPRETACIÓN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28600"/>
            <a:ext cx="50292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37960"/>
            <a:ext cx="11183112" cy="0"/>
          </a:xfrm>
          <a:prstGeom prst="line">
            <a:avLst/>
          </a:prstGeom>
          <a:ln w="1016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UD2 · Control de procesos automáticos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"/>
              </a:rPr>
              <a:t>Non só conta un punto fóra dos límites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104241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As pautas temporais tamén revelan causas especiais.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074920" cy="12344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11680"/>
            <a:ext cx="2011680" cy="21031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1 punto &gt; 3σ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011680"/>
            <a:ext cx="2286000" cy="21031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Evento puntual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468880"/>
            <a:ext cx="438912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Ferramenta rota, erro de medida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074920" cy="12344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011680"/>
            <a:ext cx="2011680" cy="21031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7–9 nun lado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011680"/>
            <a:ext cx="2286000" cy="21031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Cambio de nivel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468880"/>
            <a:ext cx="438912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Novo lote, axuste ou operario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20440"/>
            <a:ext cx="5074920" cy="12344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703320"/>
            <a:ext cx="2011680" cy="21031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6 en tendencia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703320"/>
            <a:ext cx="2286000" cy="21031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Deriva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160520"/>
            <a:ext cx="438912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Desgaste ou efecto térmico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20440"/>
            <a:ext cx="5074920" cy="12344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703320"/>
            <a:ext cx="2011680" cy="21031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2 de 3 en zona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703320"/>
            <a:ext cx="2286000" cy="21031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Desprazamento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160520"/>
            <a:ext cx="438912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Investigar antes de superar LSC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376672"/>
            <a:ext cx="10607040" cy="50292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513832"/>
            <a:ext cx="1028700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As zonas A (2–3σ), B (1–2σ) e C (0–1σ) axudan a detectar patróns antes de que apareza o refugallo.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0408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50" b="1">
                <a:solidFill>
                  <a:srgbClr val="14B8A6"/>
                </a:solidFill>
                <a:latin typeface="Aptos"/>
              </a:rPr>
              <a:t>C3.2 · ATRIBUTOS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28600"/>
            <a:ext cx="50292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37960"/>
            <a:ext cx="11183112" cy="0"/>
          </a:xfrm>
          <a:prstGeom prst="line">
            <a:avLst/>
          </a:prstGeom>
          <a:ln w="1016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UD2 · Control de procesos automáticos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"/>
              </a:rPr>
              <a:t>Gráficos por atributos: contar tamén é controlar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104241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Úsanse cando a característica non se mide de forma continua.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56231"/>
            <a:ext cx="5029200" cy="111556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130551"/>
            <a:ext cx="585216" cy="5852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67712"/>
            <a:ext cx="585216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057400"/>
            <a:ext cx="237744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Fracción defectuosa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395727"/>
            <a:ext cx="269748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Tamaño de mostra variable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276856"/>
            <a:ext cx="105156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100" b="1">
                <a:solidFill>
                  <a:srgbClr val="14B8A6"/>
                </a:solidFill>
                <a:latin typeface="Aptos"/>
              </a:rPr>
              <a:t>LC = p̄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56231"/>
            <a:ext cx="5029200" cy="111556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2130551"/>
            <a:ext cx="585216" cy="5852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67712"/>
            <a:ext cx="585216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np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057400"/>
            <a:ext cx="237744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Nº de defectuosas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95727"/>
            <a:ext cx="269748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Tamaño de mostra constante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2952" y="2276856"/>
            <a:ext cx="105156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100" b="1">
                <a:solidFill>
                  <a:srgbClr val="14B8A6"/>
                </a:solidFill>
                <a:latin typeface="Aptos"/>
              </a:rPr>
              <a:t>LC = n·p̄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56432"/>
            <a:ext cx="5029200" cy="111556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3730752"/>
            <a:ext cx="585216" cy="5852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867911"/>
            <a:ext cx="585216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657600"/>
            <a:ext cx="237744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Nº de defectos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995928"/>
            <a:ext cx="269748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Unidade de tamaño constante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3877056"/>
            <a:ext cx="105156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100" b="1">
                <a:solidFill>
                  <a:srgbClr val="14B8A6"/>
                </a:solidFill>
                <a:latin typeface="Aptos"/>
              </a:rPr>
              <a:t>LC = c̄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456432"/>
            <a:ext cx="5029200" cy="111556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3730752"/>
            <a:ext cx="585216" cy="5852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867911"/>
            <a:ext cx="585216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657600"/>
            <a:ext cx="237744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Defectos por unidade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995928"/>
            <a:ext cx="269748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50" b="0">
                <a:solidFill>
                  <a:srgbClr val="172033"/>
                </a:solidFill>
                <a:latin typeface="Aptos"/>
              </a:rPr>
              <a:t>Unidade de tamaño variable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2952" y="3877056"/>
            <a:ext cx="105156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100" b="1">
                <a:solidFill>
                  <a:srgbClr val="14B8A6"/>
                </a:solidFill>
                <a:latin typeface="Aptos"/>
              </a:rPr>
              <a:t>LC = 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349240"/>
            <a:ext cx="10424160" cy="3840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Exemplo p: se p̄ = 4,5 % e n = 200, os límites determinan se o nivel de defectuosas mudou de forma significativa.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0408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50" b="1">
                <a:solidFill>
                  <a:srgbClr val="14B8A6"/>
                </a:solidFill>
                <a:latin typeface="Aptos"/>
              </a:rPr>
              <a:t>C3.3 · CAPACIDADE DO PROCESO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28600"/>
            <a:ext cx="50292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37960"/>
            <a:ext cx="11183112" cy="0"/>
          </a:xfrm>
          <a:prstGeom prst="line">
            <a:avLst/>
          </a:prstGeom>
          <a:ln w="1016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UD2 · Control de procesos automáticos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"/>
              </a:rPr>
              <a:t>Capacidade: o proceso pode cumprir a tolerancia?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104241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Só se avalía despois de demostrar que o proceso está baixo control estatístico.</a:t>
            </a:r>
          </a:p>
        </p:txBody>
      </p:sp>
      <p:pic>
        <p:nvPicPr>
          <p:cNvPr id="9" name="Picture 8" descr="cap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7406640" cy="253138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21040" y="1874519"/>
            <a:ext cx="3063240" cy="111556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21040" y="1874519"/>
            <a:ext cx="73152" cy="11155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2039112"/>
            <a:ext cx="260604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7928" y="2441448"/>
            <a:ext cx="2606040" cy="4297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Compara ancho de tolerancia e 6σ. Non considera centrado.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310128"/>
            <a:ext cx="3063240" cy="111556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3310128"/>
            <a:ext cx="73152" cy="11155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3474720"/>
            <a:ext cx="260604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Cpk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3877056"/>
            <a:ext cx="2606040" cy="4297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Considera tamén a distancia da media ao límite máis próximo.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4745736"/>
            <a:ext cx="3063240" cy="8229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4745736"/>
            <a:ext cx="73152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8" y="4910328"/>
            <a:ext cx="260604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Regra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5312664"/>
            <a:ext cx="2606040" cy="1371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Cpk ≤ Cp sempre.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77840"/>
            <a:ext cx="29260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Cp = (LSE − LIE) / 6σ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5577840"/>
            <a:ext cx="603504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Aptos"/>
              </a:rPr>
              <a:t>Cpk = mín[(LSE − X̄)/3σ ; (X̄ − LIE)/3σ]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0408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50" b="1">
                <a:solidFill>
                  <a:srgbClr val="14B8A6"/>
                </a:solidFill>
                <a:latin typeface="Aptos"/>
              </a:rPr>
              <a:t>C3.3 ·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28600"/>
            <a:ext cx="50292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37960"/>
            <a:ext cx="11183112" cy="0"/>
          </a:xfrm>
          <a:prstGeom prst="line">
            <a:avLst/>
          </a:prstGeom>
          <a:ln w="1016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UD2 · Control de procesos automáticos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"/>
              </a:rPr>
              <a:t>Caso resolto: o proceso é case capaz, pero está descentrado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104241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Datos: X̿ = 25,10 mm · R̄ = 0,30 mm · n = 5 · tolerancia 25 ± 0,50 mm.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383280" cy="24231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73152" cy="24231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993392"/>
            <a:ext cx="292608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1. Estimar 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95728"/>
            <a:ext cx="2926080" cy="1737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600" b="0">
                <a:solidFill>
                  <a:srgbClr val="172033"/>
                </a:solidFill>
                <a:latin typeface="Aptos"/>
              </a:rPr>
              <a:t>σ = R̄ / d2
σ = 0,30 / 2,326
σ = 0,129 mm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28800"/>
            <a:ext cx="3383280" cy="24231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7408" y="1828800"/>
            <a:ext cx="73152" cy="24231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4296" y="1993392"/>
            <a:ext cx="292608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2. Calcular índices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2395728"/>
            <a:ext cx="2926080" cy="1737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600" b="0">
                <a:solidFill>
                  <a:srgbClr val="172033"/>
                </a:solidFill>
                <a:latin typeface="Aptos"/>
              </a:rPr>
              <a:t>Cp = 1,29
Cpk = 1,03
A media está máis preto do LSE.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1828800"/>
            <a:ext cx="3383280" cy="242316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74736" y="1828800"/>
            <a:ext cx="73152" cy="24231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1993392"/>
            <a:ext cx="292608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3. Decidir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2395728"/>
            <a:ext cx="2926080" cy="1737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Aptos"/>
              </a:rPr>
              <a:t>Non abonda con inspeccionar.
Axustar a media cara a 25,00 mm e volver verificar.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19472"/>
            <a:ext cx="10835640" cy="65836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129784"/>
            <a:ext cx="10469880" cy="21031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Interpretación: Cp mide o potencial; Cpk revela o risco real ao considerar o descentrado.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0408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50" b="1">
                <a:solidFill>
                  <a:srgbClr val="14B8A6"/>
                </a:solidFill>
                <a:latin typeface="Aptos"/>
              </a:rPr>
              <a:t>C3.3 ·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28600"/>
            <a:ext cx="50292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37960"/>
            <a:ext cx="11183112" cy="0"/>
          </a:xfrm>
          <a:prstGeom prst="line">
            <a:avLst/>
          </a:prstGeom>
          <a:ln w="1016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UD2 · Control de procesos automáticos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"/>
              </a:rPr>
              <a:t>Como interpretar Cp e Cpk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104241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O índice guía a prioridade de mellora, non substitúe a análise do proceso.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58521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" y="1801368"/>
            <a:ext cx="141732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20240"/>
            <a:ext cx="1417320" cy="1554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&lt; 1,00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901952"/>
            <a:ext cx="246888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50" b="1">
                <a:solidFill>
                  <a:srgbClr val="0B1F3A"/>
                </a:solidFill>
                <a:latin typeface="Aptos"/>
              </a:rPr>
              <a:t>Non capaz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901952"/>
            <a:ext cx="429768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Hai refugallo probable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60320"/>
            <a:ext cx="10698480" cy="58521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8952" y="2624327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743200"/>
            <a:ext cx="1417320" cy="1554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1,00–1,33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724912"/>
            <a:ext cx="246888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50" b="1">
                <a:solidFill>
                  <a:srgbClr val="0B1F3A"/>
                </a:solidFill>
                <a:latin typeface="Aptos"/>
              </a:rPr>
              <a:t>Límite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724912"/>
            <a:ext cx="429768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Control estreito e mellora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83280"/>
            <a:ext cx="10698480" cy="58521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952" y="3447288"/>
            <a:ext cx="1417320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566160"/>
            <a:ext cx="1417320" cy="1554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≥ 1,33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547872"/>
            <a:ext cx="246888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50" b="1">
                <a:solidFill>
                  <a:srgbClr val="0B1F3A"/>
                </a:solidFill>
                <a:latin typeface="Aptos"/>
              </a:rPr>
              <a:t>Capaz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547872"/>
            <a:ext cx="429768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Control estatístico normal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06240"/>
            <a:ext cx="10698480" cy="58521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270248"/>
            <a:ext cx="14173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389120"/>
            <a:ext cx="1417320" cy="1554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≥ 1,67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370831"/>
            <a:ext cx="246888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50" b="1">
                <a:solidFill>
                  <a:srgbClr val="0B1F3A"/>
                </a:solidFill>
                <a:latin typeface="Aptos"/>
              </a:rPr>
              <a:t>Moi capaz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370831"/>
            <a:ext cx="429768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Marxe elevada de seguridade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86400"/>
            <a:ext cx="1051560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500" b="1">
                <a:solidFill>
                  <a:srgbClr val="0B1F3A"/>
                </a:solidFill>
                <a:latin typeface="Aptos"/>
              </a:rPr>
              <a:t>Cp alto + Cpk baixo → centrar a media · Cp baixo → reducir variabilidade.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0408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50" b="1">
                <a:solidFill>
                  <a:srgbClr val="14B8A6"/>
                </a:solidFill>
                <a:latin typeface="Aptos"/>
              </a:rPr>
              <a:t>C3.5 · MELLORA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28600"/>
            <a:ext cx="50292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37960"/>
            <a:ext cx="11183112" cy="0"/>
          </a:xfrm>
          <a:prstGeom prst="line">
            <a:avLst/>
          </a:prstGeom>
          <a:ln w="1016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UD2 · Control de procesos automáticos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"/>
              </a:rPr>
              <a:t>Da alarma á solución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104241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 resposta debe ser metódica, documentada e comprobada no propio gráfico.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1874519" cy="14630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52728" y="2057400"/>
            <a:ext cx="548640" cy="5486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2212848"/>
            <a:ext cx="54864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61488"/>
            <a:ext cx="16002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Detectar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026664"/>
            <a:ext cx="155448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50" b="0">
                <a:solidFill>
                  <a:srgbClr val="172033"/>
                </a:solidFill>
                <a:latin typeface="Aptos"/>
              </a:rPr>
              <a:t>Sinal no gráfico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79" y="2560320"/>
            <a:ext cx="347473" cy="0"/>
          </a:xfrm>
          <a:prstGeom prst="line">
            <a:avLst/>
          </a:prstGeom>
          <a:ln w="254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0360" y="1828800"/>
            <a:ext cx="1874519" cy="14630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38728" y="205740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212848"/>
            <a:ext cx="54864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761488"/>
            <a:ext cx="16002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Confirmar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952" y="3026664"/>
            <a:ext cx="155448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50" b="0">
                <a:solidFill>
                  <a:srgbClr val="172033"/>
                </a:solidFill>
                <a:latin typeface="Aptos"/>
              </a:rPr>
              <a:t>Medición e calibre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54879" y="2560320"/>
            <a:ext cx="347473" cy="0"/>
          </a:xfrm>
          <a:prstGeom prst="line">
            <a:avLst/>
          </a:prstGeom>
          <a:ln w="254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66360" y="1828800"/>
            <a:ext cx="1874519" cy="14630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824728" y="2057400"/>
            <a:ext cx="54864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24728" y="2212848"/>
            <a:ext cx="54864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761488"/>
            <a:ext cx="16002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Diagnosticar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0952" y="3026664"/>
            <a:ext cx="155448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50" b="0">
                <a:solidFill>
                  <a:srgbClr val="172033"/>
                </a:solidFill>
                <a:latin typeface="Aptos"/>
              </a:rPr>
              <a:t>6M · Ishikawa · 5 porqués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40880" y="2560320"/>
            <a:ext cx="347472" cy="0"/>
          </a:xfrm>
          <a:prstGeom prst="line">
            <a:avLst/>
          </a:prstGeom>
          <a:ln w="254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52360" y="1828800"/>
            <a:ext cx="1874519" cy="14630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10728" y="2057400"/>
            <a:ext cx="548640" cy="5486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0728" y="2212848"/>
            <a:ext cx="54864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761488"/>
            <a:ext cx="16002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Actuar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3026664"/>
            <a:ext cx="155448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50" b="0">
                <a:solidFill>
                  <a:srgbClr val="172033"/>
                </a:solidFill>
                <a:latin typeface="Aptos"/>
              </a:rPr>
              <a:t>Corrixir a causa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26880" y="2560320"/>
            <a:ext cx="347472" cy="0"/>
          </a:xfrm>
          <a:prstGeom prst="line">
            <a:avLst/>
          </a:prstGeom>
          <a:ln w="254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738360" y="1828800"/>
            <a:ext cx="1874519" cy="14630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396728" y="2057400"/>
            <a:ext cx="548640" cy="5486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96728" y="2212848"/>
            <a:ext cx="54864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2761488"/>
            <a:ext cx="16002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Verificar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2952" y="3026664"/>
            <a:ext cx="155448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50" b="0">
                <a:solidFill>
                  <a:srgbClr val="172033"/>
                </a:solidFill>
                <a:latin typeface="Aptos"/>
              </a:rPr>
              <a:t>Novo dato no gráfico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224528"/>
            <a:ext cx="182880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1">
                <a:solidFill>
                  <a:srgbClr val="14B8A6"/>
                </a:solidFill>
                <a:latin typeface="Aptos"/>
              </a:rPr>
              <a:t>Tendencia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4224528"/>
            <a:ext cx="694944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172033"/>
                </a:solidFill>
                <a:latin typeface="Aptos"/>
              </a:rPr>
              <a:t>Compensar / cambiar ferramenta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09160"/>
            <a:ext cx="182880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1">
                <a:solidFill>
                  <a:srgbClr val="14B8A6"/>
                </a:solidFill>
                <a:latin typeface="Aptos"/>
              </a:rPr>
              <a:t>Descentrado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4709160"/>
            <a:ext cx="694944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172033"/>
                </a:solidFill>
                <a:latin typeface="Aptos"/>
              </a:rPr>
              <a:t>Corrixir offset ou cero peza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193792"/>
            <a:ext cx="182880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1">
                <a:solidFill>
                  <a:srgbClr val="14B8A6"/>
                </a:solidFill>
                <a:latin typeface="Aptos"/>
              </a:rPr>
              <a:t>Dispersión alta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5193792"/>
            <a:ext cx="694944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172033"/>
                </a:solidFill>
                <a:latin typeface="Aptos"/>
              </a:rPr>
              <a:t>Revisar folgos, vibracións e suxeición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0408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50" b="1">
                <a:solidFill>
                  <a:srgbClr val="14B8A6"/>
                </a:solidFill>
                <a:latin typeface="Aptos"/>
              </a:rPr>
              <a:t>APLICACIÓN INDUSTRIAL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28600"/>
            <a:ext cx="50292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37960"/>
            <a:ext cx="11183112" cy="0"/>
          </a:xfrm>
          <a:prstGeom prst="line">
            <a:avLst/>
          </a:prstGeom>
          <a:ln w="1016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UD2 · Control de procesos automáticos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"/>
              </a:rPr>
              <a:t>CEP conectado: do sensor á mellora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104241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 informática permite rexistrar, analizar e reaccionar con máis rapidez.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2194560" cy="16002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304288"/>
            <a:ext cx="1737360" cy="34747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1737360" cy="1463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Medir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907792"/>
            <a:ext cx="1664208" cy="3840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30" b="0">
                <a:solidFill>
                  <a:srgbClr val="172033"/>
                </a:solidFill>
                <a:latin typeface="Aptos"/>
              </a:rPr>
              <a:t>Palpadores, visión, micrómetros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80360" y="2852928"/>
            <a:ext cx="438912" cy="0"/>
          </a:xfrm>
          <a:prstGeom prst="line">
            <a:avLst/>
          </a:prstGeom>
          <a:ln w="254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29000" y="2057400"/>
            <a:ext cx="2194560" cy="16002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0" y="2304288"/>
            <a:ext cx="173736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404872"/>
            <a:ext cx="1737360" cy="1463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Rexistrar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2907792"/>
            <a:ext cx="1664208" cy="3840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30" b="0">
                <a:solidFill>
                  <a:srgbClr val="172033"/>
                </a:solidFill>
                <a:latin typeface="Aptos"/>
              </a:rPr>
              <a:t>PLC / SCADA / folla de cálculo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23560" y="2852928"/>
            <a:ext cx="438912" cy="0"/>
          </a:xfrm>
          <a:prstGeom prst="line">
            <a:avLst/>
          </a:prstGeom>
          <a:ln w="254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72200" y="2057400"/>
            <a:ext cx="2194560" cy="16002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2304288"/>
            <a:ext cx="173736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404872"/>
            <a:ext cx="1737360" cy="1463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Analizar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907792"/>
            <a:ext cx="1664208" cy="3840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30" b="0">
                <a:solidFill>
                  <a:srgbClr val="172033"/>
                </a:solidFill>
                <a:latin typeface="Aptos"/>
              </a:rPr>
              <a:t>Gráficos, alarmas e capacidade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66760" y="2852928"/>
            <a:ext cx="438912" cy="0"/>
          </a:xfrm>
          <a:prstGeom prst="line">
            <a:avLst/>
          </a:prstGeom>
          <a:ln w="254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15400" y="2057400"/>
            <a:ext cx="2194560" cy="16002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0" y="2304288"/>
            <a:ext cx="1737360" cy="34747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404872"/>
            <a:ext cx="1737360" cy="1463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Actuar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2907792"/>
            <a:ext cx="1664208" cy="3840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30" b="0">
                <a:solidFill>
                  <a:srgbClr val="172033"/>
                </a:solidFill>
                <a:latin typeface="Aptos"/>
              </a:rPr>
              <a:t>CNC, mantemento, trazabilidade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20" y="4663440"/>
            <a:ext cx="9418320" cy="6858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72768" y="4882896"/>
            <a:ext cx="9098280" cy="21031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Industria 4.0: datos en tempo real → detección temperá → mantemento preditivo → menos refugallo.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0408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50" b="1">
                <a:solidFill>
                  <a:srgbClr val="14B8A6"/>
                </a:solidFill>
                <a:latin typeface="Aptos"/>
              </a:rPr>
              <a:t>PECHE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28600"/>
            <a:ext cx="50292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37960"/>
            <a:ext cx="11183112" cy="0"/>
          </a:xfrm>
          <a:prstGeom prst="line">
            <a:avLst/>
          </a:prstGeom>
          <a:ln w="1016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UD2 · Control de procesos automáticos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"/>
              </a:rPr>
              <a:t>Para lembrar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1042416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Cinco ideas para aplicar o control estatístico no taller ou na planta.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37360"/>
            <a:ext cx="3246120" cy="120700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7824" y="2020824"/>
            <a:ext cx="475488" cy="47548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148840"/>
            <a:ext cx="475488" cy="1463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956815"/>
            <a:ext cx="2057400" cy="21945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Variación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50008"/>
            <a:ext cx="2057400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30" b="0">
                <a:solidFill>
                  <a:srgbClr val="172033"/>
                </a:solidFill>
                <a:latin typeface="Aptos"/>
              </a:rPr>
              <a:t>Común non é o mesmo ca especial.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7" y="1737360"/>
            <a:ext cx="3246120" cy="120700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26864" y="2020824"/>
            <a:ext cx="475488" cy="47548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2148840"/>
            <a:ext cx="475488" cy="1463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7" y="1956815"/>
            <a:ext cx="2057400" cy="21945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Gráfico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7" y="2350008"/>
            <a:ext cx="2057400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30" b="0">
                <a:solidFill>
                  <a:srgbClr val="172033"/>
                </a:solidFill>
                <a:latin typeface="Aptos"/>
              </a:rPr>
              <a:t>LC, LSC e LIC describen o proceso.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6448" y="1737360"/>
            <a:ext cx="3246120" cy="120700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75904" y="2020824"/>
            <a:ext cx="475488" cy="47548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2148840"/>
            <a:ext cx="475488" cy="1463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1956815"/>
            <a:ext cx="2057400" cy="21945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Alarma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2350008"/>
            <a:ext cx="2057400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30" b="0">
                <a:solidFill>
                  <a:srgbClr val="172033"/>
                </a:solidFill>
                <a:latin typeface="Aptos"/>
              </a:rPr>
              <a:t>Busca patróns, non só puntos extremos.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83280"/>
            <a:ext cx="3246120" cy="120700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7824" y="3666744"/>
            <a:ext cx="475488" cy="47548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3794760"/>
            <a:ext cx="475488" cy="1463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3602736"/>
            <a:ext cx="2057400" cy="21945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Capacidade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3995928"/>
            <a:ext cx="2057400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30" b="0">
                <a:solidFill>
                  <a:srgbClr val="172033"/>
                </a:solidFill>
                <a:latin typeface="Aptos"/>
              </a:rPr>
              <a:t>Cp e Cpk comparan proceso e tolerancia.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7407" y="3383280"/>
            <a:ext cx="3246120" cy="120700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26864" y="3666744"/>
            <a:ext cx="475488" cy="47548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6864" y="3794760"/>
            <a:ext cx="475488" cy="1463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1807" y="3602736"/>
            <a:ext cx="2057400" cy="21945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Mellora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1807" y="3995928"/>
            <a:ext cx="2057400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30" b="0">
                <a:solidFill>
                  <a:srgbClr val="172033"/>
                </a:solidFill>
                <a:latin typeface="Aptos"/>
              </a:rPr>
              <a:t>Corrixir, verificar e documentar.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257800"/>
            <a:ext cx="10789920" cy="53035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440680"/>
            <a:ext cx="1042416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Pregúntate sempre: o proceso está estable? É capaz? Que evidencia xustifica a acción?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UD2 · Control de procesos automáticos</dc:title>
  <dc:subject>Control estatístico do proceso: gráficos de control e capacidade</dc:subject>
  <dc:creator>wpodigital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gl-ES</dc:language>
</cp:coreProperties>
</file>