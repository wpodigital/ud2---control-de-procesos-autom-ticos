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UD2 · Control de procesos automáticos</a:t>
            </a:r>
          </a:p>
          <a:p>
            <a:pPr>
              <a:defRPr sz="2600">
                <a:solidFill>
                  <a:srgbClr val="DCE6F0"/>
                </a:solidFill>
              </a:defRPr>
            </a:pPr>
            <a:r>
              <a:t>Control estatístico do proceso: gráficos de control e capacidade</a:t>
            </a:r>
          </a:p>
          <a:p>
            <a:pPr>
              <a:defRPr sz="2000">
                <a:solidFill>
                  <a:srgbClr val="DCE6F0"/>
                </a:solidFill>
              </a:defRPr>
            </a:pPr>
            <a:r>
              <a:t>BC3 · C3.1 – C3.5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Índice da 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1. Introdución ao control estatístico e conceptos básicos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2. Histogramas e distribución normal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3. Control estatístico do proceso: causas comúns e especiais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4. Gráficos de control por variables e por atributos (C3.2)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5. Límites de control e criterios de interpretación (C3.1, C3.4)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6. Capacidade do proceso: Cp e Cpk (C3.3)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7. Solucións técnicas ante desviacións (C3.5)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8. Informática aplicada ao CEP · Resumo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Calidade e control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Calidade: grao de adecuación do produto aos requisitos de deseño e ás especificacións do cliente.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Control estatístico: ferramenta para controlar e mellorar a calidade a partir de datos, desde a verificación da peza ata a mellora do proceso.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Por que estatística? Verificar o 100 % das pezas é economicamente inviable: medimos mostras e inferimos o comportamento do proceso.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Un parámetro está baixo control se na mostra se mantén dentro de valores prefixados e a variación entre mostras se debe só a causas normais.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Obxectivo: decidir se o proceso está baixo control e axustalo para centrar o valor da seguinte unidade.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Conceptos básicos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Non hai dúas pezas exactamente iguais: sempre existe variación (persoas, máquina, material, método, medio, mantemento: as 6M).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Característica significativa: a que determina a calidade do produto.</a:t>
            </a:r>
          </a:p>
          <a:p>
            <a:pPr lvl="1"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– Atributo: cualitativa (cumpre / non cumpre; a lámpada acende ou non).</a:t>
            </a:r>
          </a:p>
          <a:p>
            <a:pPr lvl="1"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– Variable: cuantitativa e medible (lonxitude, diámetro, peso).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Poboación: conxunto total de pezas. Mostra: parte reducida e representativa (aleatoria, consecutiva ou sistemática).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Mostraxe: procedemento para extraer a mostra. Frecuencia: nº de veces que se repite un valor.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Representatividade: os resultados da mostra equivalen aos que daría toda a poboación.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Proceso: persoas, equipos, procedementos e condicións que producen un resultado (entradas → saídas).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Causas de variación: comúns e especiais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Causas comúns (aleatorias): variación natural inherente ao proceso; moitas pequenas causas. Proceso estable e previsible = baixo control estatístico.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Causas especiais (asignables): orixe concreta e identificable (ferramenta desgastada, lote de material distinto, axuste erróneo, operario novo).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Cando aparecen, o proceso está fóra de control: hai que identificalas e eliminalas.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Clave: o gráfico de control distingue entre ambas; actuar sobre unha variación común como se fose especial (sobreaxuste) empeora o proceso.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Histograma: construción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Representa a frecuencia coa que unha variable toma valores; mostra pautas difíciles de ver en táboas.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1. Recoller datos fiables e representativos (non obsoletos nin incompletos). Mínimo recomendable: 50-100 datos.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2. Percorrido: R = Xmax − Xmin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3. Nº de clases K ≈ √N (regra práctica): N&lt;50→5-7; 50-100→6-10; 100-250→7-12; &gt;250→10-20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4. Amplitude da clase: h = R / K (igual para todas, sen solapamento)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5. Contar a frecuencia de cada clase (a suma debe ser N)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6. Eixes: abscisas = clases; ordenadas = frecuencias. Debuxar rectángulos de base h e altura a frecuencia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7. Marcar os límites de especificación (LIE e LSE) e o valor nominal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Histograma: exemplo con especificacións</a:t>
            </a:r>
          </a:p>
        </p:txBody>
      </p:sp>
      <p:pic>
        <p:nvPicPr>
          <p:cNvPr id="4" name="Picture 3" descr="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3971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19" y="137160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Variable: cota crítica Ø 25 ± 0,30 mm.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Liñas vermellas: LIE e LSE; verde: nominal.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Lectura rápida: está centrado? canta dispersión hai? sae da tolerancia?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CA3.2: elabora o histograma dos datos da práctica (Excel / Python).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Interpretación da forma do histograma</a:t>
            </a:r>
          </a:p>
        </p:txBody>
      </p:sp>
      <p:pic>
        <p:nvPicPr>
          <p:cNvPr id="4" name="Picture 3" descr="hist_for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132320" cy="4457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4023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Centrado e dentro de tolerancia: proceso correcto.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Descentrado: hai que axustar a media (pezas fóra do LSE).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Moita dispersión: hai que reducir a variabilidade (máquina, ferramenta, método).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Bimodal: mestura de dúas máquinas, quendas, lotes ou materiais; estratificar os datos.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Distribución normal ou de Gauss</a:t>
            </a:r>
          </a:p>
        </p:txBody>
      </p:sp>
      <p:pic>
        <p:nvPicPr>
          <p:cNvPr id="4" name="Picture 3" descr="gau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766560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37160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Os procesos industriais adoitan seguir unha campá de Gauss (causas comúns).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μ ± 1σ → 68 % das pezas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μ ± 2σ → 95 %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μ ± 3σ → 99,7 %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Ancho natural do proceso = 6σ.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Ideal en mecanizado: simétrica e leptocúrtica (σ mínima), centrada no nominal.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Estatísticos dunha mostra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Valor central: media X̄ = ΣXi / n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Dispersión: percorrido R = Xmax − Xmin  ·  desviación típica σ = √[ Σ(Xi − X̄)² / (n − 1) ]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Capacidade: índices Cp e Cpk (comparan a dispersión coas especificacións)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Estimación de σ a partir do percorrido medio: σ ≈ R̄ / d2  (d2 depende de n; para n = 5, d2 = 2,326)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Os límites de tolerancia estatística do proceso son X̄ ± 3σ (o 99,7 % das pezas).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Gráficos de control: que son e para que serven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Representación temporal dunha característica da calidade (media, percorrido, nº de defectos…) con liñas de límite calculadas a partir dos propios datos.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Finalidade: visualizar se o proceso está baixo control e detectar causas especiais a tempo para corrixilas, antes de que saian pezas defectuosas.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Liña central (LC) + Límite Superior de Control (LSC) + Límite Inferior de Control (LIC).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Permiten intervir (axustar) só cando é necesario e non axustar cando a variación é natural.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Tipos de gráficos de control (CA3.5)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365760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Tipo de dato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Gráfico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Que controla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Cando usalo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Variables (continuas)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X̄ –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Media e percorrido de subgrupos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Subgrupos n = 2-10 (típico 4-5)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X̄ –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Media e desv. típica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Subgrupos n &gt; 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I – 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Valores individuais e percorrido móbil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Unha medida por vez (proceso lento, caro)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Atributos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p / np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Fracción / nº de unidades defectuosas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Mostra variable (p) ou constante (np)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Atributos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c / 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Nº de defectos por unidade / por unidade de 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Defectos por peza, por m², por lote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Variable: lonxitude, peso, temperatura, concentración…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Atributo: 3 parafusos defectuosos de cada 100, 3 paradas ao mes…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Condicións previas para gráficos por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O proceso debe ser estable e os datos seguir aproximadamente unha distribución normal.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Recoller 20-25 subgrupos de 4-5 pezas para que sexan representativos.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Subgrupos racionais: dispersión mínima dentro do subgrupo (mesmas condicións, pezas consecutivas) e máxima entre subgrupos.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Instrumento de medida fiable (calibrado): se non, o gráfico mide o erro do medio.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Dúas situacións: sen valores especificados (límites calculados dos datos) ou con valores especificados (obxectivo fixado).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Técnica operativa do gráfico X̄ –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1. Definir a característica, o tamaño e a frecuencia das mostras.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2. Tomar k subgrupos de n pezas; calcular X̄i e Ri de cada un.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3. Calcular a gran media X̿ = ΣX̄i / k  e o percorrido medio R̄ = ΣRi / k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4. Límites do gráfico X̄:  LSC = X̿ + A2·R̄   ·   LIC = X̿ − A2·R̄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5. Límites do gráfico R:  LSC = D4·R̄   ·   LIC = D3·R̄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6. Representar os puntos e as liñas; interpretar con criterios de alarma (primeiro o gráfico R, despois X̄).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7. Se hai causas especiais: investigar, eliminar e recalcular límites sen eses puntos.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8. Se está baixo control: calcular σ = R̄/d2 e a capacidade (Cp, Cpk).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Constantes para gráficos X̄–R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1,880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1,023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0,729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0,577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0,483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3,267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2,004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1,128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1,693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2,534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Estas constantes derivan da distribución normal; permiten calcular límites a partir de R̄ sen calcular σ de cada subgrupo.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Exemplo resolto: X̄ – R (n = 5, 25 subgrupos)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Datos: X̿ = 25,10 mm  ·  R̄ = 0,30 mm  ·  Tolerancia 25 ± 0,5 mm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Gráfico X̄: LSC = 25,10 + 0,577·0,30 = 25.273  ·  LIC = 24.927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Gráfico R: LSC = 2,114·0,30 = 0.634  ·  LIC = 0 (D3 = 0)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Desviación típica estimada: σ = R̄/d2 = 0,30/2,326 = 0.129 mm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Límites de tolerancia estatística: 25,10 ± 3·0.129 = [24.71 ; 25.49]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Cp = (25,5 − 24,5)/(6·0.129) = 1.29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Cpk = mín[(25,5 − 25,10)/(3σ) ; (25,10 − 24,5)/(3σ)] = mín[1.03 ; 1.55] = 1.03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Conclusión: potencialmente case capaz, pero descentrado cara ao LSE → axustar a media cara a 25,00.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Gráfico X̄ – R: lectura</a:t>
            </a:r>
          </a:p>
        </p:txBody>
      </p:sp>
      <p:pic>
        <p:nvPicPr>
          <p:cNvPr id="4" name="Picture 3" descr="x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498079" cy="46862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59" y="137160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Liña verde: central; vermellas: LSC / LIC (±3σ do estatístico).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O subgrupo 18 sae dos límites: causa especial → parar, investigar (ferramenta, material, axuste, medición) e documentar.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Os límites de control calculan o que o proceso É; as tolerancias din o que o cliente QUERE.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Valor do límite de control (CA3.6)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LSC/LIC = media ± 3σ do estatístico representado: marcan a variación natural esperada do proceso estable.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Probabilidade de punto fóra con proceso estable ≈ 0,27 % (falsa alarma): sinal fiable de causa especial.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NON son tolerancias: os límites de especificación (LIE/LSE) veñen do deseño/cliente; os de control, do comportamento real.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Límites de control dentro da tolerancia → proceso capaz; fóra → estable, pero produce refugallo.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Límites de aviso (±2σ) opcionais para detectar derivas antes.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Gráficos de control por atributos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p: fracción de unidades defectuosas.  LC = p̄  ;  límites = p̄ ± 3·√[p̄(1−p̄)/n]  (se LIC &lt; 0 → 0)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np: nº de defectuosas (n constante).  LC = n·p̄  ;  límites = n·p̄ ± 3·√[n·p̄(1−p̄)]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c: nº de defectos por unidade (tamaño constante).  LC = c̄  ;  límites = c̄ ± 3·√c̄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u: defectos por unidade de medida (tamaño variable).  LC = ū  ;  límites = ū ± 3·√(ū/n)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Defectuosa (unidade que non cumpre) ≠ defecto (non conformidade; unha peza pode ter varios).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Exemplo: gráfico p (n = 200 pezas por lote)</a:t>
            </a:r>
          </a:p>
        </p:txBody>
      </p:sp>
      <p:pic>
        <p:nvPicPr>
          <p:cNvPr id="4" name="Picture 3" descr="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132320" cy="32095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4023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p̄ = 4,5 %; σ = √[0,045·0,955/200] = 1,47 %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LSC = 4,5 + 3·1,47 = 8,9 %  ·  LIC = 0,1 %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Lotes 15-20: nivel superior ao habitual e sostido (causa especial persistente, aínda que sen superar o LSC).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Os de atributos requiren mostras máis grandes que os de variables.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Criterios de interpretación: alarmas (C3.4)</a:t>
            </a:r>
          </a:p>
        </p:txBody>
      </p:sp>
      <p:pic>
        <p:nvPicPr>
          <p:cNvPr id="4" name="Picture 3" descr="alar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589520" cy="4098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371600"/>
            <a:ext cx="356615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Zonas A (2-3σ), B (1-2σ) e C (0-1σ) a cada lado da LC.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Regras Western Electric / Nelson:</a:t>
            </a:r>
          </a:p>
          <a:p>
            <a:pPr lvl="1"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– 1 punto máis alá de 3σ</a:t>
            </a:r>
          </a:p>
          <a:p>
            <a:pPr lvl="1"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– 7-9 puntos seguidos a un lado da LC</a:t>
            </a:r>
          </a:p>
          <a:p>
            <a:pPr lvl="1"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– 6 puntos crecentes ou decrecentes</a:t>
            </a:r>
          </a:p>
          <a:p>
            <a:pPr lvl="1"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– 2 de 3 en zona A; 4 de 5 en zona B ou A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• Outros: 14 puntos alternando; 15 puntos en zona C (estratificación).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Que sinal indica cada alarma?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Patrón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Posible causa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Resposta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Punto fóra de límites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Fallo puntual: ferramenta rota, erro de medida, material defectuoso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Parar, inspeccionar, illar pezas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Racha a un 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Cambio de nivel: reaxuste, novo lote, novo operario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Revisar axustes, centrar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Tendencia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Desgaste de ferramenta, deriva térmica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Mantemento / compensar ferramenta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Ciclos ou estratificación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Quendas, máquinas mesturadas, medición agrupada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Separar fontes de dato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Rango fóra de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Aumento de variabilidade: folgos, vibracións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Mantemento, revisión de utillaxe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Capacidade do proceso: concepto (C3.3)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Só ten sentido estudala cando o proceso está baixo control estatístico (causas especiais eliminadas).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Pregunta: o proceso estable é capaz de cumprir as especificacións do cliente?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Compara a dispersión natural do proceso (6σ) co ancho da tolerancia (LSE − LIE).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Os índices orientan as intervencións de axuste: reducir dispersión, centrar a media ou revisar a tolerancia.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Índices Cp e Cpk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Cp = (LSE − LIE) / 6σ  →  capacidade potencial: tolerancia / dispersión. Non considera o centrado.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Cpk = mín[ (LSE − X̄)/3σ ; (X̄ − LIE)/3σ ]  →  capacidade real: considera tamén onde está a media.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Sempre Cpk ≤ Cp; se Cpk = Cp o proceso está perfectamente centrado.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Valor mínimo recomendado: 1,33 (en seguridade/automoción esíxese 1,67 ou máis).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Cp alto e Cpk baixo → centrar a media. Cp baixo → reducir variabilidade (non basta axustar).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Interpretación do Cp / Cpk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Valor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Proceso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/>
                      </a:pPr>
                      <a:r>
                        <a:t>Actuación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&lt; 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Non capaz (refugallo seguro)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Inspección 100 %, mellorar proceso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1,00 – 1,33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Aceptable / límite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Control estreito, mellorar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≥ 1,33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Capaz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Control estatístico normal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≥ 1,67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Moi capaz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0"/>
                      </a:pPr>
                      <a:r>
                        <a:t>Posible reducir frecuencia de control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Capacidade: graficamente</a:t>
            </a:r>
          </a:p>
        </p:txBody>
      </p:sp>
      <p:pic>
        <p:nvPicPr>
          <p:cNvPr id="4" name="Picture 3" descr="capac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338560" cy="35046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Primeiro: proceso xusto (6σ = tolerancia).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Segundo: proceso capaz, con marxe.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Terceiro: boa dispersión, pero descentrado: Cp alto, Cpk baixo → axustar o cero/offset da máquina.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Solucións técnicas ante desviacións (C3.5)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Método: detectar (alarma) → confirmar (medición, calibre) → diagnosticar (6M, Ishikawa, 5 porqués) → actuar → verificar no gráfico.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Tendencia/desgaste: cambio ou compensación de ferramenta, mantemento preventivo.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Descentrado: corrixir offsets, cero peza, compensación no CNC/PLC.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Dispersión alta: folgos, vibracións, suxeición, temperatura, refrixerante, material.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Datos automáticos: palpadores en máquina e medición automática enviados a PLC/SCADA con alarmas.</a:t>
            </a:r>
          </a:p>
          <a:p>
            <a:pPr>
              <a:spcAft>
                <a:spcPts val="800"/>
              </a:spcAft>
              <a:defRPr sz="2100">
                <a:solidFill>
                  <a:srgbClr val="222222"/>
                </a:solidFill>
              </a:defRPr>
            </a:pPr>
            <a:r>
              <a:t>• Rexistrar o ocorrido e recalcular límites tras a mellora: actitude proactiva e de mellora continua.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Informática no control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Recollida: formularios en follas de cálculo; palpadores, micrómetros dixitais, visión artificial → PLC → base de datos.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Tratamento: follas de cálculo (Excel) con zonas de datos, fórmulas e resultados; Python (pandas/matplotlib), Minitab, Statistica, SPSS.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Presentación: gráficos e alarmas en tempo real; integración con ERP, MES e GMAO.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Industria 4.0: CEP en liña, mantemento preditivo e análise de grandes volumes de datos.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Resumo da 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Variación inevitable: comúns (natural) vs especiais (asignables).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Histograma + Gauss: forma, centrado e dispersión; 6σ = ancho natural.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Gráficos de control: variables (X̄–R, X̄–S, I–MR) e atributos (p, np, c, u).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Límites de control = media ± 3σ; NON son tolerancias.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Alarmas: punto fóra, rachas, tendencias, 2 de 3 en zona A.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Capacidade (con proceso estable): Cp ≥ 1,33 e Cpk ≥ 1,33.</a:t>
            </a:r>
          </a:p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• Actuar só ante causas especiais e verificar a mellora no gráfico.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